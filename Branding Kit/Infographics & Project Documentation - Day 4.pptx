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00503000000020004"/>
      <p:regular r:id="rId15"/>
      <p:bold r:id="rId16"/>
      <p:italic r:id="rId17"/>
      <p:boldItalic r:id="rId18"/>
    </p:embeddedFont>
    <p:embeddedFont>
      <p:font typeface="Urbanist" panose="020B0A04040200000203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EB5663-7E66-421E-B664-17B802BEB278}">
  <a:tblStyle styleId="{0AEB5663-7E66-421E-B664-17B802BEB27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776186"/>
            <a:ext cx="11601450" cy="250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Infographics &amp;</a:t>
            </a:r>
            <a:br>
              <a:rPr lang="en-US" sz="7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Documentation</a:t>
            </a:r>
            <a:endParaRPr sz="7400" dirty="0"/>
          </a:p>
        </p:txBody>
      </p:sp>
      <p:sp>
        <p:nvSpPr>
          <p:cNvPr id="87" name="Google Shape;87;p13"/>
          <p:cNvSpPr/>
          <p:nvPr/>
        </p:nvSpPr>
        <p:spPr>
          <a:xfrm>
            <a:off x="5619750" y="4243387"/>
            <a:ext cx="9525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567237"/>
            <a:ext cx="1104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Professional Standard for Digital Reporting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15977"/>
            <a:ext cx="3492549" cy="3587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015977"/>
            <a:ext cx="3492549" cy="3587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015977"/>
            <a:ext cx="3492549" cy="358738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84223" y="3044677"/>
            <a:ext cx="306710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Simplify</a:t>
            </a:r>
            <a:endParaRPr sz="28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549502"/>
            <a:ext cx="292104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Learn to condense complex data into scannable, visual infographic stories.</a:t>
            </a:r>
            <a:endParaRPr sz="20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4562523" y="3044677"/>
            <a:ext cx="306710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Standardize</a:t>
            </a:r>
            <a:endParaRPr sz="2800"/>
          </a:p>
        </p:txBody>
      </p:sp>
      <p:sp>
        <p:nvSpPr>
          <p:cNvPr id="100" name="Google Shape;100;p14"/>
          <p:cNvSpPr txBox="1"/>
          <p:nvPr/>
        </p:nvSpPr>
        <p:spPr>
          <a:xfrm>
            <a:off x="4635549" y="3549502"/>
            <a:ext cx="292104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Master the 5-Chapter framework for academic and industry project reports.</a:t>
            </a:r>
            <a:endParaRPr sz="2000"/>
          </a:p>
        </p:txBody>
      </p:sp>
      <p:sp>
        <p:nvSpPr>
          <p:cNvPr id="101" name="Google Shape;101;p14"/>
          <p:cNvSpPr txBox="1"/>
          <p:nvPr/>
        </p:nvSpPr>
        <p:spPr>
          <a:xfrm>
            <a:off x="8340822" y="3044677"/>
            <a:ext cx="306710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Integrate</a:t>
            </a:r>
            <a:endParaRPr sz="2800"/>
          </a:p>
        </p:txBody>
      </p:sp>
      <p:sp>
        <p:nvSpPr>
          <p:cNvPr id="102" name="Google Shape;102;p14"/>
          <p:cNvSpPr txBox="1"/>
          <p:nvPr/>
        </p:nvSpPr>
        <p:spPr>
          <a:xfrm>
            <a:off x="8413849" y="3549502"/>
            <a:ext cx="292104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Seamlessly blend visuals with technical documentation for maximum clarity.</a:t>
            </a:r>
            <a:endParaRPr sz="200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0525" y="233982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825" y="233982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17124" y="233982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57150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</a:t>
            </a:r>
            <a:r>
              <a:rPr lang="en-US" sz="5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OUTCOMES</a:t>
            </a:r>
            <a:endParaRPr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1758553"/>
            <a:ext cx="55506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Beyond Mere Decoration</a:t>
            </a:r>
            <a:endParaRPr sz="2800"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581025" y="2275165"/>
            <a:ext cx="52863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Infographics are cognitive bridges. They turn raw, overwhelming data into actionable knowledge in seconds.</a:t>
            </a:r>
            <a:endParaRPr sz="2000" dirty="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9764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248440" y="3711564"/>
            <a:ext cx="45243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Recall Rates</a:t>
            </a:r>
            <a:endParaRPr sz="200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1248440" y="4173229"/>
            <a:ext cx="45243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Rapid Information Processing</a:t>
            </a:r>
            <a:endParaRPr sz="20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1257965" y="4610099"/>
            <a:ext cx="45243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Viral Engagement Potential</a:t>
            </a:r>
            <a:endParaRPr sz="2000" dirty="0"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8862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35350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476473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VISUAL </a:t>
            </a:r>
            <a:r>
              <a:rPr lang="en-US" sz="5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STORYTELLING</a:t>
            </a:r>
            <a:endParaRPr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295275" y="2628900"/>
            <a:ext cx="1160145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5-Chapter </a:t>
            </a:r>
            <a:r>
              <a:rPr lang="en-US" sz="7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Framework</a:t>
            </a:r>
            <a:endParaRPr sz="7400" dirty="0"/>
          </a:p>
        </p:txBody>
      </p:sp>
      <p:sp>
        <p:nvSpPr>
          <p:cNvPr id="130" name="Google Shape;130;p16"/>
          <p:cNvSpPr/>
          <p:nvPr/>
        </p:nvSpPr>
        <p:spPr>
          <a:xfrm>
            <a:off x="5381625" y="3829050"/>
            <a:ext cx="142875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41910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backbone of professional project documentation.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99" y="2148824"/>
            <a:ext cx="5286375" cy="293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48822"/>
            <a:ext cx="5286375" cy="293354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866775" y="2357119"/>
            <a:ext cx="493061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Setting the Scene</a:t>
            </a:r>
            <a:endParaRPr sz="2800"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866775" y="2749437"/>
            <a:ext cx="46958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the burning problem and define why your project matters.</a:t>
            </a:r>
            <a:endParaRPr sz="2000" dirty="0"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38926" y="2718894"/>
            <a:ext cx="46958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628774" y="3705522"/>
            <a:ext cx="39338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Problem Background</a:t>
            </a:r>
            <a:endParaRPr sz="200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1638300" y="4171250"/>
            <a:ext cx="39338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 Objectives (SLOs)</a:t>
            </a:r>
            <a:endParaRPr sz="2000" dirty="0"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5887" y="3888729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5887" y="4354457"/>
            <a:ext cx="952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CHAPTER 1: </a:t>
            </a:r>
            <a:r>
              <a:rPr lang="en-US" sz="5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INTRODUCTION</a:t>
            </a:r>
            <a:endParaRPr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952500" y="1878181"/>
            <a:ext cx="10668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Contextual Analysis: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Researching how others have solved similar problems in your discipline.</a:t>
            </a:r>
            <a:endParaRPr sz="2000"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952500" y="2860975"/>
            <a:ext cx="10668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Theoretical Foundation: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Defining the core concepts and design standards that guide your project.</a:t>
            </a:r>
            <a:endParaRPr sz="2000"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952500" y="3979352"/>
            <a:ext cx="10668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Gap Identification: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Spotting what is missing in current solutions to justify your unique approach.</a:t>
            </a:r>
            <a:endParaRPr sz="2000" dirty="0"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816" y="200791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803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9901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CHAPTER 2: </a:t>
            </a:r>
            <a:r>
              <a:rPr lang="en-US" sz="5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REVIEW</a:t>
            </a:r>
            <a:endParaRPr sz="5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393250" y="3477795"/>
            <a:ext cx="11049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3249" y="2785564"/>
            <a:ext cx="2263769" cy="1403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3269" y="2785564"/>
            <a:ext cx="2263769" cy="1403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289" y="2785564"/>
            <a:ext cx="2263769" cy="1403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53309" y="2785564"/>
            <a:ext cx="2263769" cy="140366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393250" y="983106"/>
            <a:ext cx="11049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"How" of your project—mapping out the logic, tools, and sequence of creation.</a:t>
            </a:r>
            <a:endParaRPr sz="2800"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593123" y="3004790"/>
            <a:ext cx="17887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Research</a:t>
            </a:r>
            <a:endParaRPr sz="2000"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593123" y="3404840"/>
            <a:ext cx="19887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Gathering</a:t>
            </a:r>
            <a:endParaRPr sz="1800"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3613143" y="3004790"/>
            <a:ext cx="17887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Wireframe</a:t>
            </a:r>
            <a:endParaRPr sz="2000"/>
          </a:p>
        </p:txBody>
      </p:sp>
      <p:sp>
        <p:nvSpPr>
          <p:cNvPr id="172" name="Google Shape;172;p19"/>
          <p:cNvSpPr txBox="1"/>
          <p:nvPr/>
        </p:nvSpPr>
        <p:spPr>
          <a:xfrm>
            <a:off x="3613143" y="3404840"/>
            <a:ext cx="19887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Structural Logic</a:t>
            </a:r>
            <a:endParaRPr sz="1800"/>
          </a:p>
        </p:txBody>
      </p:sp>
      <p:sp>
        <p:nvSpPr>
          <p:cNvPr id="173" name="Google Shape;173;p19"/>
          <p:cNvSpPr txBox="1"/>
          <p:nvPr/>
        </p:nvSpPr>
        <p:spPr>
          <a:xfrm>
            <a:off x="6633163" y="3004790"/>
            <a:ext cx="17887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Tools</a:t>
            </a:r>
            <a:endParaRPr sz="2000"/>
          </a:p>
        </p:txBody>
      </p:sp>
      <p:sp>
        <p:nvSpPr>
          <p:cNvPr id="174" name="Google Shape;174;p19"/>
          <p:cNvSpPr txBox="1"/>
          <p:nvPr/>
        </p:nvSpPr>
        <p:spPr>
          <a:xfrm>
            <a:off x="6633163" y="3404840"/>
            <a:ext cx="19887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Canva &amp; Assets</a:t>
            </a:r>
            <a:endParaRPr sz="1800"/>
          </a:p>
        </p:txBody>
      </p:sp>
      <p:sp>
        <p:nvSpPr>
          <p:cNvPr id="175" name="Google Shape;175;p19"/>
          <p:cNvSpPr txBox="1"/>
          <p:nvPr/>
        </p:nvSpPr>
        <p:spPr>
          <a:xfrm>
            <a:off x="9653183" y="3004790"/>
            <a:ext cx="17887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 Review</a:t>
            </a:r>
            <a:endParaRPr sz="2000"/>
          </a:p>
        </p:txBody>
      </p:sp>
      <p:sp>
        <p:nvSpPr>
          <p:cNvPr id="176" name="Google Shape;176;p19"/>
          <p:cNvSpPr txBox="1"/>
          <p:nvPr/>
        </p:nvSpPr>
        <p:spPr>
          <a:xfrm>
            <a:off x="9653183" y="3404840"/>
            <a:ext cx="19887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Critical Feedback</a:t>
            </a:r>
            <a:endParaRPr sz="1800"/>
          </a:p>
        </p:txBody>
      </p:sp>
      <p:sp>
        <p:nvSpPr>
          <p:cNvPr id="177" name="Google Shape;177;p19"/>
          <p:cNvSpPr txBox="1"/>
          <p:nvPr/>
        </p:nvSpPr>
        <p:spPr>
          <a:xfrm>
            <a:off x="393250" y="224375"/>
            <a:ext cx="11601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CHAPTER 3: </a:t>
            </a:r>
            <a:r>
              <a:rPr lang="en-US" sz="5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 sz="5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1075" y="650197"/>
            <a:ext cx="785536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CHAPTER 4: </a:t>
            </a:r>
            <a:r>
              <a:rPr lang="en-US" sz="5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EXECUTION</a:t>
            </a:r>
            <a:endParaRPr sz="5400" dirty="0"/>
          </a:p>
        </p:txBody>
      </p:sp>
      <p:sp>
        <p:nvSpPr>
          <p:cNvPr id="185" name="Google Shape;185;p20"/>
          <p:cNvSpPr txBox="1"/>
          <p:nvPr/>
        </p:nvSpPr>
        <p:spPr>
          <a:xfrm>
            <a:off x="321075" y="1700504"/>
            <a:ext cx="48006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The Proof of Concept</a:t>
            </a:r>
            <a:endParaRPr sz="2800" dirty="0"/>
          </a:p>
        </p:txBody>
      </p:sp>
      <p:sp>
        <p:nvSpPr>
          <p:cNvPr id="186" name="Google Shape;186;p20"/>
          <p:cNvSpPr txBox="1"/>
          <p:nvPr/>
        </p:nvSpPr>
        <p:spPr>
          <a:xfrm>
            <a:off x="317050" y="2131391"/>
            <a:ext cx="4572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Showcasing your final design or solution. This chapter is visual-heavy, using charts and screenshots to prove your results.</a:t>
            </a:r>
            <a:endParaRPr sz="2000" dirty="0"/>
          </a:p>
        </p:txBody>
      </p:sp>
      <p:sp>
        <p:nvSpPr>
          <p:cNvPr id="187" name="Google Shape;187;p20"/>
          <p:cNvSpPr txBox="1"/>
          <p:nvPr/>
        </p:nvSpPr>
        <p:spPr>
          <a:xfrm>
            <a:off x="317050" y="4099443"/>
            <a:ext cx="45720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Document the testing phase: What worked? What needed refinement based on user data?</a:t>
            </a:r>
            <a:endParaRPr sz="2000" dirty="0"/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6100" y="1700122"/>
            <a:ext cx="6743976" cy="37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94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41438" y="2747850"/>
            <a:ext cx="22926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Final</a:t>
            </a:r>
            <a:endParaRPr sz="6000" dirty="0"/>
          </a:p>
        </p:txBody>
      </p:sp>
      <p:sp>
        <p:nvSpPr>
          <p:cNvPr id="195" name="Google Shape;195;p21"/>
          <p:cNvSpPr txBox="1"/>
          <p:nvPr/>
        </p:nvSpPr>
        <p:spPr>
          <a:xfrm>
            <a:off x="897138" y="3778661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Verdict</a:t>
            </a:r>
            <a:endParaRPr sz="2000" dirty="0"/>
          </a:p>
        </p:txBody>
      </p:sp>
      <p:sp>
        <p:nvSpPr>
          <p:cNvPr id="196" name="Google Shape;196;p21"/>
          <p:cNvSpPr txBox="1"/>
          <p:nvPr/>
        </p:nvSpPr>
        <p:spPr>
          <a:xfrm>
            <a:off x="3848263" y="2955838"/>
            <a:ext cx="7432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Closing the Narrative</a:t>
            </a:r>
            <a:endParaRPr sz="2800"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3848263" y="3471276"/>
            <a:ext cx="7602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Summarize your achievements relative to Chapter 1's objectives. Provide a roadmap for future work or project scalability.</a:t>
            </a:r>
            <a:endParaRPr sz="2000" dirty="0"/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57150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CHAPTER 5: </a:t>
            </a:r>
            <a:r>
              <a:rPr lang="en-US" sz="5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EVALUATION</a:t>
            </a:r>
            <a:endParaRPr sz="5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45307" y="1981200"/>
            <a:ext cx="55506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Integration Strategy</a:t>
            </a:r>
            <a:endParaRPr sz="2800" dirty="0"/>
          </a:p>
        </p:txBody>
      </p:sp>
      <p:sp>
        <p:nvSpPr>
          <p:cNvPr id="206" name="Google Shape;206;p22"/>
          <p:cNvSpPr txBox="1"/>
          <p:nvPr/>
        </p:nvSpPr>
        <p:spPr>
          <a:xfrm>
            <a:off x="523875" y="2583537"/>
            <a:ext cx="52863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Never treat infographics as appendices. Embed them directly into the textual context to reduce reader cognitive load.</a:t>
            </a:r>
            <a:endParaRPr sz="2000" dirty="0"/>
          </a:p>
        </p:txBody>
      </p:sp>
      <p:pic>
        <p:nvPicPr>
          <p:cNvPr id="207" name="Google Shape;20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764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1333500" y="4057650"/>
            <a:ext cx="45243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PDF Accessibility</a:t>
            </a:r>
            <a:endParaRPr sz="2000" dirty="0"/>
          </a:p>
        </p:txBody>
      </p:sp>
      <p:sp>
        <p:nvSpPr>
          <p:cNvPr id="209" name="Google Shape;209;p22"/>
          <p:cNvSpPr txBox="1"/>
          <p:nvPr/>
        </p:nvSpPr>
        <p:spPr>
          <a:xfrm>
            <a:off x="1333500" y="4476750"/>
            <a:ext cx="45243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 Markdown Embedding</a:t>
            </a:r>
            <a:endParaRPr sz="2000" dirty="0"/>
          </a:p>
        </p:txBody>
      </p:sp>
      <p:pic>
        <p:nvPicPr>
          <p:cNvPr id="210" name="Google Shape;21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415017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58375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71500" y="57150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VISUAL </a:t>
            </a:r>
            <a:r>
              <a:rPr lang="en-US" sz="5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INTEGRATION</a:t>
            </a:r>
            <a:endParaRPr sz="5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8" name="Google Shape;218;p23"/>
          <p:cNvGraphicFramePr/>
          <p:nvPr>
            <p:extLst>
              <p:ext uri="{D42A27DB-BD31-4B8C-83A1-F6EECF244321}">
                <p14:modId xmlns:p14="http://schemas.microsoft.com/office/powerpoint/2010/main" val="1080160530"/>
              </p:ext>
            </p:extLst>
          </p:nvPr>
        </p:nvGraphicFramePr>
        <p:xfrm>
          <a:off x="571500" y="2771775"/>
          <a:ext cx="11049000" cy="2200300"/>
        </p:xfrm>
        <a:graphic>
          <a:graphicData uri="http://schemas.openxmlformats.org/drawingml/2006/table">
            <a:tbl>
              <a:tblPr firstRow="1" bandRow="1">
                <a:noFill/>
                <a:tableStyleId>{0AEB5663-7E66-421E-B664-17B802BEB278}</a:tableStyleId>
              </a:tblPr>
              <a:tblGrid>
                <a:gridCol w="165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Criteria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Exceptional (100)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Developing (75)</a:t>
                      </a:r>
                      <a:endParaRPr sz="2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Visual Clarity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Infographic simplifies data with zero clutter.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Visual is decorative rather than informative.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Structure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Logic flows seamlessly through all 5 chapters.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Sections feel disconnected or repetitive.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Integration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Visuals are perfectly context-embedded.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Images are placed at the end only.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9" name="Google Shape;219;p23"/>
          <p:cNvSpPr/>
          <p:nvPr/>
        </p:nvSpPr>
        <p:spPr>
          <a:xfrm>
            <a:off x="571500" y="3852862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2225873" y="3852862"/>
            <a:ext cx="48388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064722" y="3852862"/>
            <a:ext cx="4555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71500" y="4405312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2225873" y="4405312"/>
            <a:ext cx="48388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7064722" y="4405312"/>
            <a:ext cx="4555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71500" y="4957762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2225873" y="4957762"/>
            <a:ext cx="48388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064722" y="4957762"/>
            <a:ext cx="4555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57150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EVALUATION </a:t>
            </a:r>
            <a:r>
              <a:rPr lang="en-US" sz="54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RUBRIC</a:t>
            </a:r>
            <a:endParaRPr sz="5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9525"/>
            <a:ext cx="7219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71500" y="2038350"/>
            <a:ext cx="7580947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Questions</a:t>
            </a:r>
            <a:r>
              <a:rPr lang="en-US" sz="7500" b="1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368</Words>
  <Application>Microsoft Macintosh PowerPoint</Application>
  <PresentationFormat>Widescreen</PresentationFormat>
  <Paragraphs>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Urbanist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Alexson Abrina</cp:lastModifiedBy>
  <cp:revision>10</cp:revision>
  <dcterms:modified xsi:type="dcterms:W3CDTF">2026-05-21T01:54:19Z</dcterms:modified>
</cp:coreProperties>
</file>